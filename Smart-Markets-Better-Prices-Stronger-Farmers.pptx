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</p:sldIdLst>
  <p:sldSz cx="12192000" cy="6858000"/>
  <p:notesSz cx="6858000" cy="12192000"/>
  <p:embeddedFontLst>
    <p:embeddedFont>
      <p:font typeface="Fraunces ExtraBold" panose="020B0604020202020204" charset="0"/>
      <p:regular r:id="rId15"/>
    </p:embeddedFont>
    <p:embeddedFont>
      <p:font typeface="Nobile" panose="020B0604020202020204" charset="0"/>
      <p:regular r:id="rId16"/>
    </p:embeddedFont>
    <p:embeddedFont>
      <p:font typeface="Nobile Bold" panose="020B0604020202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0352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FC82E-5163-FF79-558F-A50B53CD3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6555D6-5533-9AE1-7178-1183683499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7D09BE-EA89-1F0C-79C6-8010D37A7A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3CC73E-FD78-D8F0-1918-5935F4C075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7262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A0049-D21D-A767-9A52-1B8F92CDB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E4DCD0-13DD-ABFE-4CAF-05950B0365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CE8140-1979-CA83-C843-BDD1A53B1D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73DEB6-2C79-86BD-FC01-185948438C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1297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shitrivedi31-afk.github.io/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324967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KisanSetu AI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199084"/>
            <a:ext cx="6296860" cy="2445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1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Smart Markets. Better Prices. Stronger Farmers.</a:t>
            </a:r>
            <a:endParaRPr lang="en-US" sz="5100" dirty="0"/>
          </a:p>
        </p:txBody>
      </p:sp>
      <p:sp>
        <p:nvSpPr>
          <p:cNvPr id="5" name="Text 2"/>
          <p:cNvSpPr/>
          <p:nvPr/>
        </p:nvSpPr>
        <p:spPr>
          <a:xfrm>
            <a:off x="661475" y="4928096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IBM University Engagement Project · Agriculture Domain · Agentic AI with IBM Granite &amp; LangFlow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68226"/>
            <a:ext cx="6296860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The Problem Farmers Face</a:t>
            </a:r>
            <a:endParaRPr lang="en-US" sz="3500" dirty="0"/>
          </a:p>
        </p:txBody>
      </p:sp>
      <p:sp>
        <p:nvSpPr>
          <p:cNvPr id="4" name="Shape 1"/>
          <p:cNvSpPr/>
          <p:nvPr/>
        </p:nvSpPr>
        <p:spPr>
          <a:xfrm>
            <a:off x="661475" y="1388864"/>
            <a:ext cx="6296860" cy="1026120"/>
          </a:xfrm>
          <a:prstGeom prst="roundRect">
            <a:avLst>
              <a:gd name="adj" fmla="val 15802"/>
            </a:avLst>
          </a:prstGeom>
          <a:solidFill>
            <a:srgbClr val="E8F3E8"/>
          </a:solidFill>
          <a:ln/>
        </p:spPr>
      </p:sp>
      <p:sp>
        <p:nvSpPr>
          <p:cNvPr id="5" name="Text 2"/>
          <p:cNvSpPr/>
          <p:nvPr/>
        </p:nvSpPr>
        <p:spPr>
          <a:xfrm>
            <a:off x="841552" y="1568946"/>
            <a:ext cx="5936705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No Price Transparency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41552" y="1953419"/>
            <a:ext cx="5936705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Mandi prices are difficult to track in real time.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61475" y="2586633"/>
            <a:ext cx="6296860" cy="1026120"/>
          </a:xfrm>
          <a:prstGeom prst="roundRect">
            <a:avLst>
              <a:gd name="adj" fmla="val 15802"/>
            </a:avLst>
          </a:prstGeom>
          <a:solidFill>
            <a:srgbClr val="E8F3E8"/>
          </a:solidFill>
          <a:ln/>
        </p:spPr>
      </p:sp>
      <p:sp>
        <p:nvSpPr>
          <p:cNvPr id="8" name="Text 5"/>
          <p:cNvSpPr/>
          <p:nvPr/>
        </p:nvSpPr>
        <p:spPr>
          <a:xfrm>
            <a:off x="841552" y="2766715"/>
            <a:ext cx="5936705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Middleman Dependence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841552" y="3151188"/>
            <a:ext cx="5936705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Farmers rely on intermediaries, often receiving lower prices.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61475" y="3784402"/>
            <a:ext cx="6296860" cy="1026120"/>
          </a:xfrm>
          <a:prstGeom prst="roundRect">
            <a:avLst>
              <a:gd name="adj" fmla="val 15802"/>
            </a:avLst>
          </a:prstGeom>
          <a:solidFill>
            <a:srgbClr val="E8F3E8"/>
          </a:solidFill>
          <a:ln/>
        </p:spPr>
      </p:sp>
      <p:sp>
        <p:nvSpPr>
          <p:cNvPr id="11" name="Text 8"/>
          <p:cNvSpPr/>
          <p:nvPr/>
        </p:nvSpPr>
        <p:spPr>
          <a:xfrm>
            <a:off x="841552" y="3964484"/>
            <a:ext cx="5936705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Limited Buyer Access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841552" y="4348956"/>
            <a:ext cx="5936705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Hard to find trustworthy buyers for cotton &amp; groundnut.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61475" y="4982170"/>
            <a:ext cx="6296860" cy="1307604"/>
          </a:xfrm>
          <a:prstGeom prst="roundRect">
            <a:avLst>
              <a:gd name="adj" fmla="val 12400"/>
            </a:avLst>
          </a:prstGeom>
          <a:solidFill>
            <a:srgbClr val="E8F3E8"/>
          </a:solidFill>
          <a:ln/>
        </p:spPr>
      </p:sp>
      <p:sp>
        <p:nvSpPr>
          <p:cNvPr id="14" name="Text 11"/>
          <p:cNvSpPr/>
          <p:nvPr/>
        </p:nvSpPr>
        <p:spPr>
          <a:xfrm>
            <a:off x="841552" y="5162252"/>
            <a:ext cx="5936705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Poor Selling Decisions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841552" y="5546725"/>
            <a:ext cx="5936705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Without data, decisions on selling, storage, and quality reduce income.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8460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Introducing KisanSetu AI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61475" y="1404243"/>
            <a:ext cx="10868745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 </a:t>
            </a:r>
            <a:r>
              <a:rPr lang="en-US" sz="13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Agentic AI-powered market linkage platform</a:t>
            </a:r>
            <a:r>
              <a:rPr lang="en-US" sz="13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connecting farmers directly with buyers — providing price intelligence, forecasting, and actionable recommendations.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120503"/>
            <a:ext cx="348448" cy="348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2669679"/>
            <a:ext cx="5333966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Mandi Price Agent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61475" y="3038177"/>
            <a:ext cx="5333966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Real-time price intelligence across mandis.</a:t>
            </a:r>
            <a:endParaRPr lang="en-US" sz="13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6155" y="2120503"/>
            <a:ext cx="348448" cy="348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96155" y="2669679"/>
            <a:ext cx="533406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Price Forecasting Agent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6196155" y="3038177"/>
            <a:ext cx="5334065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Predicts price trends using IBM Granite.</a:t>
            </a:r>
            <a:endParaRPr lang="en-US" sz="13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627239"/>
            <a:ext cx="348448" cy="3484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1475" y="4176415"/>
            <a:ext cx="5333966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Buyer Matching Agent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661475" y="4544913"/>
            <a:ext cx="5333966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Finds suitable buyers for farmer produce.</a:t>
            </a:r>
            <a:endParaRPr lang="en-US" sz="13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96155" y="3627239"/>
            <a:ext cx="348448" cy="3484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196155" y="4176415"/>
            <a:ext cx="533406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Sell/Store Advisor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6196155" y="4544913"/>
            <a:ext cx="5334065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Recommends when to sell or store produce.</a:t>
            </a:r>
            <a:endParaRPr lang="en-US" sz="13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5133975"/>
            <a:ext cx="348448" cy="34845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61475" y="5683151"/>
            <a:ext cx="5333966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Quality Grading Agent</a:t>
            </a:r>
            <a:endParaRPr lang="en-US" sz="1700" dirty="0"/>
          </a:p>
        </p:txBody>
      </p:sp>
      <p:sp>
        <p:nvSpPr>
          <p:cNvPr id="18" name="Text 11"/>
          <p:cNvSpPr/>
          <p:nvPr/>
        </p:nvSpPr>
        <p:spPr>
          <a:xfrm>
            <a:off x="661475" y="6051649"/>
            <a:ext cx="5333966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Assists in produce quality assessment.</a:t>
            </a:r>
            <a:endParaRPr lang="en-US" sz="13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96155" y="5133975"/>
            <a:ext cx="348448" cy="34845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196155" y="5683151"/>
            <a:ext cx="533406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Income Dashboard Agent</a:t>
            </a:r>
            <a:endParaRPr lang="en-US" sz="1700" dirty="0"/>
          </a:p>
        </p:txBody>
      </p:sp>
      <p:sp>
        <p:nvSpPr>
          <p:cNvPr id="21" name="Text 13"/>
          <p:cNvSpPr/>
          <p:nvPr/>
        </p:nvSpPr>
        <p:spPr>
          <a:xfrm>
            <a:off x="6196155" y="6051649"/>
            <a:ext cx="5334065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Tracks revenue and selling performance.</a:t>
            </a:r>
            <a:endParaRPr lang="en-US" sz="13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4E03579-A941-B2AE-9CAE-E362CA9CD659}"/>
              </a:ext>
            </a:extLst>
          </p:cNvPr>
          <p:cNvSpPr/>
          <p:nvPr/>
        </p:nvSpPr>
        <p:spPr>
          <a:xfrm>
            <a:off x="10925285" y="6415781"/>
            <a:ext cx="1209869" cy="3596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5186"/>
            <a:ext cx="10868745" cy="396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Technology Stack</a:t>
            </a:r>
            <a:endParaRPr lang="en-US" sz="2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20453"/>
            <a:ext cx="6956251" cy="3941961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3829" y="1155998"/>
            <a:ext cx="3602642" cy="74572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156073" y="1302048"/>
            <a:ext cx="323435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IBM Granite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8156073" y="1585813"/>
            <a:ext cx="3234351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AI reasoning, forecasting, and recommendations.</a:t>
            </a:r>
            <a:endParaRPr lang="en-US" sz="9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3829" y="1987054"/>
            <a:ext cx="3602642" cy="74572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156073" y="2133104"/>
            <a:ext cx="323435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IBM watsonx.ai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8156073" y="2416870"/>
            <a:ext cx="3234351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AI model deployment and governance.</a:t>
            </a:r>
            <a:endParaRPr lang="en-US" sz="9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3829" y="2818110"/>
            <a:ext cx="3602642" cy="7457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156073" y="2964160"/>
            <a:ext cx="323435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IBM Cloud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8156073" y="3247926"/>
            <a:ext cx="3234351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Scalable backend and deployment infrastructure.</a:t>
            </a:r>
            <a:endParaRPr lang="en-US" sz="9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3829" y="3649166"/>
            <a:ext cx="3602642" cy="74572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156073" y="3795216"/>
            <a:ext cx="323435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LangFlow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8156073" y="4078982"/>
            <a:ext cx="3234351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Multi-agent workflow orchestration.</a:t>
            </a:r>
            <a:endParaRPr lang="en-US" sz="9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3829" y="4480223"/>
            <a:ext cx="3602642" cy="915591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8156073" y="4626273"/>
            <a:ext cx="323435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RAG + Vector DB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8156073" y="4910038"/>
            <a:ext cx="3234351" cy="339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Retrieves reliable market data before generating responses.</a:t>
            </a:r>
            <a:endParaRPr lang="en-US" sz="95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3829" y="5481141"/>
            <a:ext cx="3602642" cy="745728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8156073" y="5627191"/>
            <a:ext cx="323435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HTML · CSS · JS</a:t>
            </a:r>
            <a:endParaRPr lang="en-US" sz="1200" dirty="0"/>
          </a:p>
        </p:txBody>
      </p:sp>
      <p:sp>
        <p:nvSpPr>
          <p:cNvPr id="21" name="Text 12"/>
          <p:cNvSpPr/>
          <p:nvPr/>
        </p:nvSpPr>
        <p:spPr>
          <a:xfrm>
            <a:off x="8156073" y="5910957"/>
            <a:ext cx="3234351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Simple, mobile-first user interface prototype.</a:t>
            </a:r>
            <a:endParaRPr lang="en-US" sz="95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5FC9EDC-C98C-02A1-D4BD-2B34E3FBEB96}"/>
              </a:ext>
            </a:extLst>
          </p:cNvPr>
          <p:cNvSpPr/>
          <p:nvPr/>
        </p:nvSpPr>
        <p:spPr>
          <a:xfrm>
            <a:off x="10925285" y="6415781"/>
            <a:ext cx="1209869" cy="3596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6575"/>
            <a:ext cx="10868745" cy="406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LangFlow Components &amp; Workflow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661475" y="1121172"/>
            <a:ext cx="11478330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LangFlow orchestrates the multi-agent pipeline — from farmer input to AI-generated recommendation.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221" y="1397099"/>
            <a:ext cx="10779153" cy="464829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31583" y="5163907"/>
            <a:ext cx="3145235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Output Recommendation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431583" y="4087901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RAG Retrieval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431583" y="3022763"/>
            <a:ext cx="2514015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AI Agent Processing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431583" y="1946757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Farmer Input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61475" y="6145907"/>
            <a:ext cx="11478330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Example: </a:t>
            </a:r>
            <a:r>
              <a:rPr lang="en-US" sz="10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"Should I sell my cotton today?"</a:t>
            </a: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→ Retrieve mandi prices → Analyze trend → Granite reasoning → </a:t>
            </a:r>
            <a:r>
              <a:rPr lang="en-US" sz="10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Sell / Wait / Store recommendation</a:t>
            </a:r>
            <a:endParaRPr lang="en-US" sz="1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900B23-CD85-B1BC-C81B-A65070CC1427}"/>
              </a:ext>
            </a:extLst>
          </p:cNvPr>
          <p:cNvSpPr/>
          <p:nvPr/>
        </p:nvSpPr>
        <p:spPr>
          <a:xfrm>
            <a:off x="10925285" y="6415781"/>
            <a:ext cx="1209869" cy="3596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Architecture Blueprint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1058" y="3180755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How It Works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221058" y="3383260"/>
            <a:ext cx="5315512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Farmers interact through a simple mobile app. The Agentic AI Layer coordinates specialized agents that query real-time market data via RAG. IBM Granite processes insights and delivers personalized recommendations — all hosted on scalable IBM Cloud infrastructure.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6221058" y="3793927"/>
            <a:ext cx="5315512" cy="256977"/>
          </a:xfrm>
          <a:prstGeom prst="roundRect">
            <a:avLst>
              <a:gd name="adj" fmla="val 34134"/>
            </a:avLst>
          </a:prstGeom>
          <a:solidFill>
            <a:srgbClr val="DDEEE0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8489" y="3868440"/>
            <a:ext cx="121738" cy="9743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37658" y="3863380"/>
            <a:ext cx="5511067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Each agent has a focused role, but they coordinate to solve complex selling decisions together.</a:t>
            </a:r>
            <a:endParaRPr lang="en-US" sz="7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CDE0C5-212B-095B-98D5-C81002DEEBCA}"/>
              </a:ext>
            </a:extLst>
          </p:cNvPr>
          <p:cNvSpPr/>
          <p:nvPr/>
        </p:nvSpPr>
        <p:spPr>
          <a:xfrm>
            <a:off x="10925285" y="6415781"/>
            <a:ext cx="1209869" cy="3596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33698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The Power of Agentic AI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1407815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KisanSetu AI is a </a:t>
            </a:r>
            <a:r>
              <a:rPr lang="en-US" sz="14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decision-support system</a:t>
            </a: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not a simple chatbot. Multiple specialized agents work together to deliver personalized, actionable insights.</a:t>
            </a:r>
            <a:endParaRPr lang="en-US" sz="14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2315" y="2533551"/>
            <a:ext cx="283461" cy="2834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75723" y="2527697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Specialized Agents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1275723" y="2936379"/>
            <a:ext cx="56826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Each agent handles a distinct farming decision — pricing, forecasting, buyer matching, quality, storage.</a:t>
            </a:r>
            <a:endParaRPr lang="en-US" sz="14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2315" y="3925094"/>
            <a:ext cx="283461" cy="28346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75723" y="3919240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Coordinated Reasoning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1275723" y="4327922"/>
            <a:ext cx="56826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Agents analyze market and farmer data together to solve complex selling decisions.</a:t>
            </a:r>
            <a:endParaRPr lang="en-US" sz="14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2315" y="5316637"/>
            <a:ext cx="283461" cy="2834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75723" y="5310783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Simple Language Output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1275723" y="5719465"/>
            <a:ext cx="56826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Farmers receive clear, actionable recommendations in Gujarati, Hindi, or English.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419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Novelty &amp; Uniqueness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1340346"/>
            <a:ext cx="5362044" cy="1564680"/>
          </a:xfrm>
          <a:prstGeom prst="roundRect">
            <a:avLst>
              <a:gd name="adj" fmla="val 9513"/>
            </a:avLst>
          </a:prstGeom>
          <a:solidFill>
            <a:srgbClr val="E8F3E8"/>
          </a:solidFill>
          <a:ln/>
        </p:spPr>
      </p:sp>
      <p:sp>
        <p:nvSpPr>
          <p:cNvPr id="4" name="Shape 2"/>
          <p:cNvSpPr/>
          <p:nvPr/>
        </p:nvSpPr>
        <p:spPr>
          <a:xfrm>
            <a:off x="826769" y="1505645"/>
            <a:ext cx="496081" cy="496094"/>
          </a:xfrm>
          <a:prstGeom prst="ellipse">
            <a:avLst/>
          </a:prstGeom>
          <a:solidFill>
            <a:srgbClr val="438951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3192" y="1641971"/>
            <a:ext cx="223237" cy="2232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6769" y="2146399"/>
            <a:ext cx="503145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Multi-Agent AI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6769" y="2491680"/>
            <a:ext cx="5031455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Six specialized agents for different farming decisions.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68176" y="1340346"/>
            <a:ext cx="5362044" cy="1564680"/>
          </a:xfrm>
          <a:prstGeom prst="roundRect">
            <a:avLst>
              <a:gd name="adj" fmla="val 9513"/>
            </a:avLst>
          </a:prstGeom>
          <a:solidFill>
            <a:srgbClr val="E8F3E8"/>
          </a:solidFill>
          <a:ln/>
        </p:spPr>
      </p:sp>
      <p:sp>
        <p:nvSpPr>
          <p:cNvPr id="9" name="Shape 6"/>
          <p:cNvSpPr/>
          <p:nvPr/>
        </p:nvSpPr>
        <p:spPr>
          <a:xfrm>
            <a:off x="6333470" y="1505645"/>
            <a:ext cx="496081" cy="496094"/>
          </a:xfrm>
          <a:prstGeom prst="ellipse">
            <a:avLst/>
          </a:prstGeom>
          <a:solidFill>
            <a:srgbClr val="438951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69893" y="1641971"/>
            <a:ext cx="223237" cy="22324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33470" y="2146399"/>
            <a:ext cx="503145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Real-Time Intelligence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333470" y="2491680"/>
            <a:ext cx="5031455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Live mandi price data with trend analysis.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61475" y="3049687"/>
            <a:ext cx="5362044" cy="1564680"/>
          </a:xfrm>
          <a:prstGeom prst="roundRect">
            <a:avLst>
              <a:gd name="adj" fmla="val 9513"/>
            </a:avLst>
          </a:prstGeom>
          <a:solidFill>
            <a:srgbClr val="E8F3E8"/>
          </a:solidFill>
          <a:ln/>
        </p:spPr>
      </p:sp>
      <p:sp>
        <p:nvSpPr>
          <p:cNvPr id="14" name="Shape 10"/>
          <p:cNvSpPr/>
          <p:nvPr/>
        </p:nvSpPr>
        <p:spPr>
          <a:xfrm>
            <a:off x="826769" y="3214985"/>
            <a:ext cx="496081" cy="496094"/>
          </a:xfrm>
          <a:prstGeom prst="ellipse">
            <a:avLst/>
          </a:prstGeom>
          <a:solidFill>
            <a:srgbClr val="438951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3192" y="3351312"/>
            <a:ext cx="223237" cy="22324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6769" y="3855740"/>
            <a:ext cx="503145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AI Price Forecasting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26769" y="4201021"/>
            <a:ext cx="5031455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IBM Granite predicts short-term price movements.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168176" y="3049687"/>
            <a:ext cx="5362044" cy="1564680"/>
          </a:xfrm>
          <a:prstGeom prst="roundRect">
            <a:avLst>
              <a:gd name="adj" fmla="val 9513"/>
            </a:avLst>
          </a:prstGeom>
          <a:solidFill>
            <a:srgbClr val="E8F3E8"/>
          </a:solidFill>
          <a:ln/>
        </p:spPr>
      </p:sp>
      <p:sp>
        <p:nvSpPr>
          <p:cNvPr id="19" name="Shape 14"/>
          <p:cNvSpPr/>
          <p:nvPr/>
        </p:nvSpPr>
        <p:spPr>
          <a:xfrm>
            <a:off x="6333470" y="3214985"/>
            <a:ext cx="496081" cy="496094"/>
          </a:xfrm>
          <a:prstGeom prst="ellipse">
            <a:avLst/>
          </a:prstGeom>
          <a:solidFill>
            <a:srgbClr val="438951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69893" y="3351312"/>
            <a:ext cx="223237" cy="22324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33470" y="3855740"/>
            <a:ext cx="503145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Direct Buyer Matching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6333470" y="4201021"/>
            <a:ext cx="5031455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Eliminates middlemen with direct farmer-buyer links.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661475" y="4759027"/>
            <a:ext cx="5362044" cy="1564680"/>
          </a:xfrm>
          <a:prstGeom prst="roundRect">
            <a:avLst>
              <a:gd name="adj" fmla="val 9513"/>
            </a:avLst>
          </a:prstGeom>
          <a:solidFill>
            <a:srgbClr val="E8F3E8"/>
          </a:solidFill>
          <a:ln/>
        </p:spPr>
      </p:sp>
      <p:sp>
        <p:nvSpPr>
          <p:cNvPr id="24" name="Shape 18"/>
          <p:cNvSpPr/>
          <p:nvPr/>
        </p:nvSpPr>
        <p:spPr>
          <a:xfrm>
            <a:off x="826769" y="4924326"/>
            <a:ext cx="496081" cy="496094"/>
          </a:xfrm>
          <a:prstGeom prst="ellipse">
            <a:avLst/>
          </a:prstGeom>
          <a:solidFill>
            <a:srgbClr val="438951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3192" y="5060652"/>
            <a:ext cx="223237" cy="22324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26769" y="5565080"/>
            <a:ext cx="503145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Sell vs. Store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826769" y="5910362"/>
            <a:ext cx="5031455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Data-driven recommendations on optimal selling timing.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6168176" y="4759027"/>
            <a:ext cx="5362044" cy="1564680"/>
          </a:xfrm>
          <a:prstGeom prst="roundRect">
            <a:avLst>
              <a:gd name="adj" fmla="val 9513"/>
            </a:avLst>
          </a:prstGeom>
          <a:solidFill>
            <a:srgbClr val="E8F3E8"/>
          </a:solidFill>
          <a:ln/>
        </p:spPr>
      </p:sp>
      <p:sp>
        <p:nvSpPr>
          <p:cNvPr id="29" name="Shape 22"/>
          <p:cNvSpPr/>
          <p:nvPr/>
        </p:nvSpPr>
        <p:spPr>
          <a:xfrm>
            <a:off x="6333470" y="4924326"/>
            <a:ext cx="496081" cy="496094"/>
          </a:xfrm>
          <a:prstGeom prst="ellipse">
            <a:avLst/>
          </a:prstGeom>
          <a:solidFill>
            <a:srgbClr val="438951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69893" y="5060652"/>
            <a:ext cx="223237" cy="22324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333470" y="5565080"/>
            <a:ext cx="503145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Multilingual Support</a:t>
            </a:r>
            <a:endParaRPr lang="en-US" sz="1600" dirty="0"/>
          </a:p>
        </p:txBody>
      </p:sp>
      <p:sp>
        <p:nvSpPr>
          <p:cNvPr id="32" name="Text 24"/>
          <p:cNvSpPr/>
          <p:nvPr/>
        </p:nvSpPr>
        <p:spPr>
          <a:xfrm>
            <a:off x="6333470" y="5910362"/>
            <a:ext cx="5031455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Gujarati, Hindi, and English with voice-friendly input.</a:t>
            </a:r>
            <a:endParaRPr lang="en-US" sz="13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0D46EC5-404A-8A0A-5888-2F631FAE14AB}"/>
              </a:ext>
            </a:extLst>
          </p:cNvPr>
          <p:cNvSpPr/>
          <p:nvPr/>
        </p:nvSpPr>
        <p:spPr>
          <a:xfrm>
            <a:off x="10925285" y="6415781"/>
            <a:ext cx="1209869" cy="3596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2331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Token Usage &amp; Screenshots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999059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Token Count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483346"/>
            <a:ext cx="350421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/>
              <a:t>50</a:t>
            </a:r>
          </a:p>
        </p:txBody>
      </p:sp>
      <p:sp>
        <p:nvSpPr>
          <p:cNvPr id="5" name="Shape 3"/>
          <p:cNvSpPr/>
          <p:nvPr/>
        </p:nvSpPr>
        <p:spPr>
          <a:xfrm>
            <a:off x="661475" y="3348038"/>
            <a:ext cx="3504219" cy="25400"/>
          </a:xfrm>
          <a:prstGeom prst="roundRect">
            <a:avLst>
              <a:gd name="adj" fmla="val 49999"/>
            </a:avLst>
          </a:prstGeom>
          <a:solidFill>
            <a:srgbClr val="405449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3633291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Before Prompt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61475" y="4117578"/>
            <a:ext cx="411380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50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61475" y="4679851"/>
            <a:ext cx="3504219" cy="25400"/>
          </a:xfrm>
          <a:prstGeom prst="roundRect">
            <a:avLst>
              <a:gd name="adj" fmla="val 49999"/>
            </a:avLst>
          </a:prstGeom>
          <a:solidFill>
            <a:srgbClr val="405449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61475" y="4965105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After Prompt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61475" y="5449391"/>
            <a:ext cx="411380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</a:rPr>
              <a:t>28</a:t>
            </a:r>
            <a:endParaRPr lang="en-US" sz="14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8C72631-D1FD-0402-BE47-3A2EE2786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666" y="2396355"/>
            <a:ext cx="7523180" cy="247387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780CDB5-8B45-BA28-9017-6A1B5E158F8E}"/>
              </a:ext>
            </a:extLst>
          </p:cNvPr>
          <p:cNvSpPr/>
          <p:nvPr/>
        </p:nvSpPr>
        <p:spPr>
          <a:xfrm>
            <a:off x="10925285" y="6415781"/>
            <a:ext cx="1209869" cy="3596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35186"/>
            <a:ext cx="6296860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Impact &amp; Conclusion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661475" y="1355824"/>
            <a:ext cx="6296860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KisanSetu AI empowers farmers to make </a:t>
            </a:r>
            <a:r>
              <a:rPr lang="en-US" sz="14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smarter, data-driven decisions</a:t>
            </a: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increasing income, reducing dependence on middlemen, and improving market access.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61475" y="2393454"/>
            <a:ext cx="3062608" cy="1589088"/>
          </a:xfrm>
          <a:prstGeom prst="roundRect">
            <a:avLst>
              <a:gd name="adj" fmla="val 10204"/>
            </a:avLst>
          </a:prstGeom>
          <a:solidFill>
            <a:srgbClr val="E8F3E8"/>
          </a:solidFill>
          <a:ln/>
        </p:spPr>
      </p:sp>
      <p:sp>
        <p:nvSpPr>
          <p:cNvPr id="6" name="Text 3"/>
          <p:cNvSpPr/>
          <p:nvPr/>
        </p:nvSpPr>
        <p:spPr>
          <a:xfrm>
            <a:off x="841552" y="2573536"/>
            <a:ext cx="270245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Higher Income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41552" y="2958009"/>
            <a:ext cx="2702453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Real-time prices and forecasting help farmers sell at the right time.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895727" y="2393454"/>
            <a:ext cx="3062608" cy="1589088"/>
          </a:xfrm>
          <a:prstGeom prst="roundRect">
            <a:avLst>
              <a:gd name="adj" fmla="val 10204"/>
            </a:avLst>
          </a:prstGeom>
          <a:solidFill>
            <a:srgbClr val="E8F3E8"/>
          </a:solidFill>
          <a:ln/>
        </p:spPr>
      </p:sp>
      <p:sp>
        <p:nvSpPr>
          <p:cNvPr id="9" name="Text 6"/>
          <p:cNvSpPr/>
          <p:nvPr/>
        </p:nvSpPr>
        <p:spPr>
          <a:xfrm>
            <a:off x="4075804" y="2573536"/>
            <a:ext cx="270245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Direct Market Access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4075804" y="2958009"/>
            <a:ext cx="2702453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Buyer matching eliminates intermediaries and improves bargaining power.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61475" y="4154190"/>
            <a:ext cx="6296860" cy="1026120"/>
          </a:xfrm>
          <a:prstGeom prst="roundRect">
            <a:avLst>
              <a:gd name="adj" fmla="val 15802"/>
            </a:avLst>
          </a:prstGeom>
          <a:solidFill>
            <a:srgbClr val="E8F3E8"/>
          </a:solidFill>
          <a:ln/>
        </p:spPr>
      </p:sp>
      <p:sp>
        <p:nvSpPr>
          <p:cNvPr id="12" name="Text 9"/>
          <p:cNvSpPr/>
          <p:nvPr/>
        </p:nvSpPr>
        <p:spPr>
          <a:xfrm>
            <a:off x="841552" y="4334272"/>
            <a:ext cx="5936705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Scalable Future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841552" y="4718745"/>
            <a:ext cx="5936705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Expandable to more crops, regions, and languages across India.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31641" y="5566668"/>
            <a:ext cx="6026694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"KisanSetu AI — Smart Markets. Better Prices. Stronger Farmers."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61475" y="5373489"/>
            <a:ext cx="25399" cy="949325"/>
          </a:xfrm>
          <a:prstGeom prst="roundRect">
            <a:avLst>
              <a:gd name="adj" fmla="val 50001"/>
            </a:avLst>
          </a:prstGeom>
          <a:solidFill>
            <a:srgbClr val="438951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4BFC1-0B8A-DBB8-10DF-D5E164AA0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DA911BB-92CD-FFD0-4E17-2BFF8C544649}"/>
              </a:ext>
            </a:extLst>
          </p:cNvPr>
          <p:cNvSpPr/>
          <p:nvPr/>
        </p:nvSpPr>
        <p:spPr>
          <a:xfrm>
            <a:off x="661475" y="53419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B4540"/>
                </a:solidFill>
                <a:latin typeface="Fraunces ExtraBold" pitchFamily="34" charset="0"/>
              </a:rPr>
              <a:t>Git hub repository link</a:t>
            </a:r>
            <a:endParaRPr lang="en-US" sz="325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CF2BD28-D35B-97EA-0068-430A990F12F3}"/>
              </a:ext>
            </a:extLst>
          </p:cNvPr>
          <p:cNvSpPr/>
          <p:nvPr/>
        </p:nvSpPr>
        <p:spPr>
          <a:xfrm>
            <a:off x="661475" y="1340346"/>
            <a:ext cx="5031455" cy="1564680"/>
          </a:xfrm>
          <a:prstGeom prst="roundRect">
            <a:avLst>
              <a:gd name="adj" fmla="val 9513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9909F58-04ED-56B7-2893-2400A66B71CD}"/>
              </a:ext>
            </a:extLst>
          </p:cNvPr>
          <p:cNvSpPr/>
          <p:nvPr/>
        </p:nvSpPr>
        <p:spPr>
          <a:xfrm>
            <a:off x="826769" y="1505645"/>
            <a:ext cx="496081" cy="496094"/>
          </a:xfrm>
          <a:prstGeom prst="ellipse">
            <a:avLst/>
          </a:prstGeom>
          <a:solidFill>
            <a:srgbClr val="438951"/>
          </a:solidFill>
          <a:ln/>
        </p:spPr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A7B18D2C-ACC3-4AF5-7693-A69CB08FB4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3192" y="1641971"/>
            <a:ext cx="223237" cy="223242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5DABC585-592E-DB17-80DE-961C30076757}"/>
              </a:ext>
            </a:extLst>
          </p:cNvPr>
          <p:cNvSpPr/>
          <p:nvPr/>
        </p:nvSpPr>
        <p:spPr>
          <a:xfrm>
            <a:off x="826769" y="2146399"/>
            <a:ext cx="503145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Fraunces ExtraBold" pitchFamily="34" charset="0"/>
              </a:rPr>
              <a:t>Repository link</a:t>
            </a:r>
            <a:endParaRPr lang="en-US" sz="16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87331D1-8D3C-C1DF-F482-672AAC7B65A9}"/>
              </a:ext>
            </a:extLst>
          </p:cNvPr>
          <p:cNvSpPr/>
          <p:nvPr/>
        </p:nvSpPr>
        <p:spPr>
          <a:xfrm>
            <a:off x="826769" y="2491680"/>
            <a:ext cx="5031455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  <a:hlinkClick r:id="rId4"/>
              </a:rPr>
              <a:t>https://arshitrivedi31-afk.github.io/</a:t>
            </a:r>
            <a:endParaRPr lang="en-US" sz="13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CE9177C-AB24-69A1-CB22-75D317D90065}"/>
              </a:ext>
            </a:extLst>
          </p:cNvPr>
          <p:cNvSpPr/>
          <p:nvPr/>
        </p:nvSpPr>
        <p:spPr>
          <a:xfrm>
            <a:off x="10925285" y="6415781"/>
            <a:ext cx="1209869" cy="3596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20760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87F4D-08D8-EA52-88C5-6ADD54E93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CC44D6C-608F-C0C2-AF50-B6793E34C59B}"/>
              </a:ext>
            </a:extLst>
          </p:cNvPr>
          <p:cNvSpPr/>
          <p:nvPr/>
        </p:nvSpPr>
        <p:spPr>
          <a:xfrm>
            <a:off x="3367323" y="2781697"/>
            <a:ext cx="5457353" cy="1294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200" dirty="0">
                <a:solidFill>
                  <a:srgbClr val="3B4540"/>
                </a:solidFill>
                <a:latin typeface="Fraunces ExtraBold" pitchFamily="34" charset="0"/>
              </a:rPr>
              <a:t>Thank you</a:t>
            </a:r>
          </a:p>
          <a:p>
            <a:pPr marL="0" indent="0" algn="l">
              <a:lnSpc>
                <a:spcPct val="104000"/>
              </a:lnSpc>
              <a:buNone/>
            </a:pPr>
            <a:endParaRPr lang="en-US" sz="72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770FA67-C9E4-BC9B-8DC4-6EC8D9E67766}"/>
              </a:ext>
            </a:extLst>
          </p:cNvPr>
          <p:cNvSpPr/>
          <p:nvPr/>
        </p:nvSpPr>
        <p:spPr>
          <a:xfrm>
            <a:off x="10925285" y="6415781"/>
            <a:ext cx="1209869" cy="3596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438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612</Words>
  <Application>Microsoft Office PowerPoint</Application>
  <PresentationFormat>Widescreen</PresentationFormat>
  <Paragraphs>103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Fraunces ExtraBold</vt:lpstr>
      <vt:lpstr>Nobile</vt:lpstr>
      <vt:lpstr>Nobile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Arshi Trivedi</cp:lastModifiedBy>
  <cp:revision>3</cp:revision>
  <dcterms:created xsi:type="dcterms:W3CDTF">2026-09-12T17:13:46Z</dcterms:created>
  <dcterms:modified xsi:type="dcterms:W3CDTF">2026-09-13T04:33:24Z</dcterms:modified>
</cp:coreProperties>
</file>